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7.gif" ContentType="image/gif"/>
  <Override PartName="/ppt/comments/comment4.xml" ContentType="application/vnd.openxmlformats-officedocument.presentationml.comments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presProps" Target="presProps.xml"/><Relationship Id="rId32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5-11-25T16:40:09.000000000" idx="1">
    <p:pos x="0" y="0"/>
    <p:text/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CD4935-90F9-447F-8971-247A5664C1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8493C-B168-44C6-90FB-2026353F20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8F35E1-47F0-4172-AD45-807CE61090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A6331A-0312-46F7-ADC7-069BFBFD65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9AC89BD-A2BE-4C7C-9A21-FF760ED9D4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D795841-32DC-4B9A-9BE2-8F7C58D0D8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7BD015D-A8D1-43E1-B161-843D547B0B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EE9A0D7-DA00-45C9-90D8-8DAF4ED354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2405E0-BFB5-4493-A4C1-C3A667C607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C7CCC17-786C-4144-A91A-132A4C0BB7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8E4E73C-EC8C-4E8A-BDC8-FD346E9189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141560" y="2666880"/>
            <a:ext cx="4833720" cy="31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17200" y="2666880"/>
            <a:ext cx="4833720" cy="31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37F5898-D053-48D4-9CC5-872D5869F9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43D10886-D4E4-4F3C-872B-0611AB9046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D8407290-EDE2-4ECE-A099-7C3CF20FFF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389B0952-4F05-45AE-844A-C2BED2E31C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29F94EA4-4EBD-41BE-9648-8C5C5C6363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1792D237-A31A-4154-9EB0-5DBE64745F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51040" y="609480"/>
            <a:ext cx="867600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8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0B1F6-8FE4-4734-895B-54B53047CADA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small">
                <a:solidFill>
                  <a:schemeClr val="dk1"/>
                </a:solidFill>
                <a:latin typeface="Century Gothic"/>
              </a:rPr>
              <a:t>Click to edit the outline text format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 cap="small">
                <a:solidFill>
                  <a:schemeClr val="dk1"/>
                </a:solidFill>
                <a:latin typeface="Century Gothic"/>
              </a:rPr>
              <a:t>Second Outline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 cap="small">
                <a:solidFill>
                  <a:schemeClr val="dk1"/>
                </a:solidFill>
                <a:latin typeface="Century Gothic"/>
              </a:rPr>
              <a:t>Third Outline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 cap="small">
                <a:solidFill>
                  <a:schemeClr val="dk1"/>
                </a:solidFill>
                <a:latin typeface="Century Gothic"/>
              </a:rPr>
              <a:t>Fourth Outline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small">
                <a:solidFill>
                  <a:schemeClr val="dk1"/>
                </a:solidFill>
                <a:latin typeface="Century Gothic"/>
              </a:rPr>
              <a:t>Fifth Outline Level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small">
                <a:solidFill>
                  <a:schemeClr val="dk1"/>
                </a:solidFill>
                <a:latin typeface="Century Gothic"/>
              </a:rPr>
              <a:t>Sixth Outline Level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small">
                <a:solidFill>
                  <a:schemeClr val="dk1"/>
                </a:solidFill>
                <a:latin typeface="Century Gothic"/>
              </a:rPr>
              <a:t>Seventh Outline Level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1560" y="4732920"/>
            <a:ext cx="990576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4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979640" y="932040"/>
            <a:ext cx="8225640" cy="31647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entury Gothic"/>
              </a:rPr>
              <a:t>Click icon to add picture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1141560" y="5299560"/>
            <a:ext cx="990576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56B8C7-554D-4544-AF8C-B34FD34E1C58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3A16D-7422-4DCE-9A15-3F8A345EE785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accent1"/>
                </a:solidFill>
                <a:latin typeface="Century Gothic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accent1"/>
                </a:solidFill>
                <a:latin typeface="Century Gothic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674720" y="3352680"/>
            <a:ext cx="88387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137975-A8BB-4710-9FE9-5B43586E09B2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1560" y="3308760"/>
            <a:ext cx="99057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41560" y="4777560"/>
            <a:ext cx="990576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09644-0707-4B84-8D7D-C7D942897F07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accent1"/>
                </a:solidFill>
                <a:latin typeface="Century Gothic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accent1"/>
                </a:solidFill>
                <a:latin typeface="Century Gothic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141560" y="3886200"/>
            <a:ext cx="9905760" cy="88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141560" y="4775040"/>
            <a:ext cx="9905760" cy="101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753CB9-25CC-48D5-A85F-932398EF0FD8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141560" y="3505320"/>
            <a:ext cx="990576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 cap="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9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1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F1775-2888-4A82-8DF0-F51E951A9664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2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D551C8-CAC8-45B7-AB52-1283D19FC1BB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836920" y="609480"/>
            <a:ext cx="221004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54344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5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7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E3DFD-F54D-48E0-BE3D-2A5C534E5FE9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28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0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8FCF7F-5BF7-4226-8CF0-7483E23C1884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51040" y="3308760"/>
            <a:ext cx="868644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40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51040" y="4777560"/>
            <a:ext cx="868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C8AF2-E2F8-4DBC-B2C1-0CCDB5DB317C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1707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EFBB0-6DF7-4E1C-9F33-57337AB68A87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429200" y="2658600"/>
            <a:ext cx="45885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1415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443280" y="2666880"/>
            <a:ext cx="4604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1707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2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2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3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3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6CE0BD-0513-4B37-89BD-3947F96BF828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2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4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sldNum" idx="4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F7182-B922-42DE-A836-D976D84DEEA7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dt" idx="4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7BBD3-6521-421B-AA55-ECAABC268A30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3548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4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103720" y="609480"/>
            <a:ext cx="594324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2000" spc="-1" strike="noStrike" cap="small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Second level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Third level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Fourth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pc="-1" strike="noStrike" cap="small">
                <a:solidFill>
                  <a:srgbClr val="ffffff"/>
                </a:solidFill>
                <a:latin typeface="Century Gothic"/>
              </a:rPr>
              <a:t>Fifth level</a:t>
            </a:r>
            <a:endParaRPr b="0" lang="en-US" sz="14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354888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4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4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08766-D6CC-4DE2-AF70-737BC4324BDC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1999" r="-11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533376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800" spc="-1" strike="noStrike" cap="all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433640" y="-18360"/>
            <a:ext cx="3276360" cy="69033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entury Gothic"/>
              </a:rPr>
              <a:t>Click icon to add picture</a:t>
            </a:r>
            <a:endParaRPr b="0" lang="en-US" sz="16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533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 cap="small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b="0" lang="en-US" sz="1800" spc="-1" strike="noStrike" cap="small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49"/>
          </p:nvPr>
        </p:nvSpPr>
        <p:spPr>
          <a:xfrm>
            <a:off x="6399360" y="5883120"/>
            <a:ext cx="914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5105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51"/>
          </p:nvPr>
        </p:nvSpPr>
        <p:spPr>
          <a:xfrm>
            <a:off x="10742760" y="5883120"/>
            <a:ext cx="322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69F35-888D-4FDF-A9F0-DA21D37E8396}" type="slidenum">
              <a:rPr b="1" lang="en-US" sz="900" spc="-1" strike="noStrike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0.xml"/><Relationship Id="rId3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4"/>
          <p:cNvSpPr/>
          <p:nvPr/>
        </p:nvSpPr>
        <p:spPr>
          <a:xfrm>
            <a:off x="457200" y="228600"/>
            <a:ext cx="116586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chemeClr val="dk1"/>
                </a:solidFill>
                <a:latin typeface="Poppins bold"/>
              </a:rPr>
              <a:t>INORDER TRAVERSING Of TREE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218960" y="1143000"/>
            <a:ext cx="952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fr-FR" sz="2800" spc="-1" strike="noStrike">
                <a:solidFill>
                  <a:schemeClr val="dk1"/>
                </a:solidFill>
                <a:latin typeface="Century Gothic"/>
              </a:rPr>
              <a:t>Algorithm, Implementation &amp; Analysis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228600" y="2514600"/>
            <a:ext cx="118872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Submitted By   :Noyon Chandra Das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  <a:ea typeface="Calibri"/>
              </a:rPr>
              <a:t>Student’s ID      : 2411076140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Course              :  Data Structure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Department     :  Department of Computer Science &amp; Engineering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University         :  University of Rajshahi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3982320" y="6162120"/>
            <a:ext cx="4227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entury Gothic"/>
              </a:rPr>
              <a:t>Date: 26 November, 2025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3"/>
          <p:cNvSpPr/>
          <p:nvPr/>
        </p:nvSpPr>
        <p:spPr>
          <a:xfrm>
            <a:off x="-7560" y="-136080"/>
            <a:ext cx="87123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  <a:ea typeface="Calibri"/>
              </a:rPr>
              <a:t>Presentation Roadmap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32800" y="1192680"/>
            <a:ext cx="10147320" cy="44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Introduction 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What is Tree &amp; Tree Traversing?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T</a:t>
            </a:r>
            <a:r>
              <a:rPr b="0" lang="en-GB" sz="3000" spc="-1" strike="noStrike">
                <a:solidFill>
                  <a:schemeClr val="dk1"/>
                </a:solidFill>
                <a:latin typeface="Calibri"/>
                <a:ea typeface="Calibri"/>
              </a:rPr>
              <a:t>raversing of Linear Data Structure Vs </a:t>
            </a:r>
            <a:r>
              <a:rPr b="0" lang="en-GB" sz="3000" spc="-1" strike="noStrike">
                <a:solidFill>
                  <a:schemeClr val="dk1"/>
                </a:solidFill>
                <a:latin typeface="Calibri"/>
                <a:ea typeface="Calibri"/>
              </a:rPr>
              <a:t>Traversing of Tree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Inorder traversing Algorithm (Steps)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Inorder traversing</a:t>
            </a: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 Smulation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Complexity Analysis (Time &amp; Space)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Real-World Applications of </a:t>
            </a: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Inorder traversing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b="0" lang="en-US" sz="3200" spc="-1" strike="noStrike">
                <a:solidFill>
                  <a:schemeClr val="dk2"/>
                </a:solidFill>
                <a:latin typeface="Calibri"/>
                <a:ea typeface="Calibri"/>
              </a:rPr>
              <a:t>Conclusion &amp; Final Takeaways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10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3"/>
          <p:cNvSpPr/>
          <p:nvPr/>
        </p:nvSpPr>
        <p:spPr>
          <a:xfrm>
            <a:off x="0" y="0"/>
            <a:ext cx="106066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Introduction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914400" y="6172200"/>
            <a:ext cx="122526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"/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Tree Traversing means visiting each node of a tree.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0" y="3584160"/>
            <a:ext cx="8645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530640" y="4343400"/>
            <a:ext cx="97070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"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85800" y="5486400"/>
            <a:ext cx="6858000" cy="78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​</a:t>
            </a: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What is Tree Traversal?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10400" y="554400"/>
            <a:ext cx="4343400" cy="6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What is Tree?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14400" y="1035360"/>
            <a:ext cx="10972800" cy="105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Tree is a non-linear collection of data item called node where is nodes connected by edge.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3429000" y="2091960"/>
            <a:ext cx="5486400" cy="3413520"/>
          </a:xfrm>
          <a:prstGeom prst="rect">
            <a:avLst/>
          </a:prstGeom>
          <a:ln w="0">
            <a:noFill/>
          </a:ln>
        </p:spPr>
      </p:pic>
      <p:sp>
        <p:nvSpPr>
          <p:cNvPr id="118" name=""/>
          <p:cNvSpPr txBox="1"/>
          <p:nvPr/>
        </p:nvSpPr>
        <p:spPr>
          <a:xfrm>
            <a:off x="5486400" y="1915200"/>
            <a:ext cx="1143000" cy="105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GB" sz="2800" spc="-1" strike="noStrike">
                <a:solidFill>
                  <a:srgbClr val="c9211e"/>
                </a:solidFill>
                <a:latin typeface="Calibri"/>
                <a:ea typeface="Calibri"/>
              </a:rPr>
              <a:t>Root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429000" y="2091960"/>
            <a:ext cx="2286000" cy="105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GB" sz="2800" spc="-1" strike="noStrike">
                <a:solidFill>
                  <a:srgbClr val="c9211e"/>
                </a:solidFill>
                <a:latin typeface="Calibri"/>
                <a:ea typeface="Calibri"/>
              </a:rPr>
              <a:t>Left </a:t>
            </a:r>
            <a:endParaRPr b="1" lang="en-US" sz="2800" spc="-1" strike="noStrike">
              <a:solidFill>
                <a:srgbClr val="c9211e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GB" sz="2800" spc="-1" strike="noStrike">
                <a:solidFill>
                  <a:srgbClr val="c9211e"/>
                </a:solidFill>
                <a:latin typeface="Calibri"/>
                <a:ea typeface="Calibri"/>
              </a:rPr>
              <a:t>Sub-tree</a:t>
            </a:r>
            <a:endParaRPr b="1" lang="en-US" sz="2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772400" y="2091960"/>
            <a:ext cx="18288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GB" sz="2800" spc="-1" strike="noStrike">
                <a:solidFill>
                  <a:srgbClr val="00a933"/>
                </a:solidFill>
                <a:latin typeface="Calibri"/>
                <a:ea typeface="Calibri"/>
              </a:rPr>
              <a:t>Right Sub-tree</a:t>
            </a:r>
            <a:endParaRPr b="1" lang="en-US" sz="2800" spc="-1" strike="noStrike">
              <a:solidFill>
                <a:srgbClr val="00a933"/>
              </a:solidFill>
              <a:latin typeface="Arial"/>
            </a:endParaRPr>
          </a:p>
        </p:txBody>
      </p:sp>
    </p:spTree>
  </p:cSld>
  <p:transition spd="slow">
    <p:randomBar dir="ver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1"/>
          <p:nvPr/>
        </p:nvSpPr>
        <p:spPr>
          <a:xfrm>
            <a:off x="457200" y="696600"/>
            <a:ext cx="8915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Tree Traversing means visiting each node of a tree.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1200" y="48600"/>
            <a:ext cx="5943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What is Tree Traversing?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0" y="1360800"/>
            <a:ext cx="12115800" cy="6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Traversing of Linear Data Structure Vs </a:t>
            </a: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Traversing of Tree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143000" y="2751840"/>
            <a:ext cx="3429000" cy="410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In linear data structure like stack ,queue, array etc. have only one way of traversing 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85800" y="2057400"/>
            <a:ext cx="75438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Traversing of Linear Data Structure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5029200" y="2743200"/>
            <a:ext cx="6858000" cy="3886200"/>
          </a:xfrm>
          <a:prstGeom prst="rect">
            <a:avLst/>
          </a:prstGeom>
          <a:ln w="0">
            <a:noFill/>
          </a:ln>
        </p:spPr>
      </p:pic>
    </p:spTree>
  </p:cSld>
  <p:transition spd="slow">
    <p:randomBar dir="ver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685800" y="871200"/>
            <a:ext cx="11430000" cy="298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The tree has various way to traverse each node .On the basis of root node the tree traversing can be classified into 3 types 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1. Pre-order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2.In-order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3.Post-order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28600" y="228600"/>
            <a:ext cx="5715000" cy="69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Traversing of Tree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3429000" y="2286000"/>
            <a:ext cx="6538320" cy="4455000"/>
          </a:xfrm>
          <a:prstGeom prst="rect">
            <a:avLst/>
          </a:prstGeom>
          <a:ln w="0">
            <a:noFill/>
          </a:ln>
        </p:spPr>
      </p:pic>
    </p:spTree>
  </p:cSld>
  <p:transition spd="slow">
    <p:randomBar dir="ver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4"/>
          <p:cNvSpPr/>
          <p:nvPr/>
        </p:nvSpPr>
        <p:spPr>
          <a:xfrm>
            <a:off x="246600" y="685800"/>
            <a:ext cx="1169604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Step-1:Begin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Step-2:Process the left sub-tree element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Step-3: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Process the root node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Step-4: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Process the right sub-tree element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Step-5:Exit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0" y="0"/>
            <a:ext cx="10972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Algorithm of In-Order Tree Traversing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191160" y="4343400"/>
            <a:ext cx="1169604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In Short :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Left </a:t>
            </a:r>
            <a:r>
              <a:rPr b="0" lang="en-GB" sz="2800" spc="-1" strike="noStrike">
                <a:solidFill>
                  <a:schemeClr val="dk1"/>
                </a:solidFill>
                <a:latin typeface="DejaVu Sans"/>
                <a:ea typeface="DejaVu Sans"/>
              </a:rPr>
              <a:t>⟶Root</a:t>
            </a:r>
            <a:r>
              <a:rPr b="0" lang="en-GB" sz="2800" spc="-1" strike="noStrike">
                <a:solidFill>
                  <a:schemeClr val="dk1"/>
                </a:solidFill>
                <a:latin typeface="DejaVu Sans"/>
                <a:ea typeface="DejaVu Sans"/>
              </a:rPr>
              <a:t>⟶Right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400800" y="2743200"/>
            <a:ext cx="5147280" cy="3822120"/>
          </a:xfrm>
          <a:prstGeom prst="rect">
            <a:avLst/>
          </a:prstGeom>
          <a:ln w="0">
            <a:noFill/>
          </a:ln>
        </p:spPr>
      </p:pic>
    </p:spTree>
  </p:cSld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 txBox="1"/>
          <p:nvPr/>
        </p:nvSpPr>
        <p:spPr>
          <a:xfrm>
            <a:off x="228600" y="228600"/>
            <a:ext cx="10744200" cy="78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Simulation of In-order Traversing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867960" y="1010880"/>
            <a:ext cx="7133040" cy="562896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9144000" y="457200"/>
            <a:ext cx="914400" cy="615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4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2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8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5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1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6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3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9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7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500" spc="-1" strike="noStrike">
                <a:solidFill>
                  <a:schemeClr val="dk1"/>
                </a:solidFill>
                <a:latin typeface="Calibri"/>
                <a:ea typeface="Calibri"/>
              </a:rPr>
              <a:t>10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 spd="slow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228600" y="228600"/>
            <a:ext cx="11430000" cy="147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Simulation of In-order Traversing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1600200" y="1060200"/>
            <a:ext cx="8229600" cy="5387040"/>
          </a:xfrm>
          <a:prstGeom prst="rect">
            <a:avLst/>
          </a:prstGeom>
          <a:ln w="0">
            <a:noFill/>
          </a:ln>
        </p:spPr>
      </p:pic>
    </p:spTree>
  </p:cSld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4"/>
          <p:cNvSpPr/>
          <p:nvPr/>
        </p:nvSpPr>
        <p:spPr>
          <a:xfrm>
            <a:off x="81720" y="-23400"/>
            <a:ext cx="118054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  <a:ea typeface="Calibri"/>
              </a:rPr>
              <a:t>Complexity Analysis (Inorder Traversing)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201600" y="707760"/>
            <a:ext cx="11696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Century Gothic"/>
              <a:buAutoNum type="arabicParenR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Time Complexity:  </a:t>
            </a:r>
            <a:r>
              <a:rPr b="0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O(n)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457200" y="914400"/>
            <a:ext cx="1169604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"/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Why?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✔ 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Reason: We visit every node exactly once (where n is the number of nodes).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433440" y="4346280"/>
            <a:ext cx="116960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3) Worst Case: O(n) (Skewed Tree - like a linked list).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​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4) Average Case: O(log n) (Balanced Tree).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​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Reason: Stack memory usage during recursion.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419760" y="3200400"/>
            <a:ext cx="11696040" cy="25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2)   Space Complexity:  O(h) (where h is the height of the tree).  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 spd="slow">
    <p:push dir="u"/>
  </p:transition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" dur="5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3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3"/>
          <p:cNvSpPr/>
          <p:nvPr/>
        </p:nvSpPr>
        <p:spPr>
          <a:xfrm>
            <a:off x="0" y="0"/>
            <a:ext cx="9748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Calibri"/>
                <a:ea typeface="Calibri"/>
              </a:rPr>
              <a:t>Applications of In-Order Traversing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710280" y="707760"/>
            <a:ext cx="11696040" cy="64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r>
              <a:rPr b="0" lang="en-US" sz="3200" spc="-1" strike="noStrike">
                <a:solidFill>
                  <a:srgbClr val="ff0000"/>
                </a:solidFill>
                <a:latin typeface="Calibri"/>
                <a:ea typeface="Calibri"/>
              </a:rPr>
              <a:t>Binary Search Trees (BST): Used to get elements in non-decreasing order (Sorting).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2. </a:t>
            </a:r>
            <a:r>
              <a:rPr b="0" lang="en-US" sz="3200" spc="-1" strike="noStrike">
                <a:solidFill>
                  <a:srgbClr val="00b050"/>
                </a:solidFill>
                <a:latin typeface="Calibri"/>
                <a:ea typeface="Calibri"/>
              </a:rPr>
              <a:t>Expression Trees: Inorder traversal gives the "Infix" expression (e.g., A + B).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3. </a:t>
            </a:r>
            <a:r>
              <a:rPr b="0" lang="en-US" sz="3200" spc="-1" strike="noStrike">
                <a:solidFill>
                  <a:srgbClr val="0070c0"/>
                </a:solidFill>
                <a:latin typeface="Calibri"/>
                <a:ea typeface="Calibri"/>
              </a:rPr>
              <a:t>Threaded Binary Trees: Used to optimize traversal without recursion/stack.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4.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  <a:ea typeface="Calibri"/>
              </a:rPr>
              <a:t>System Design: Database indexing often relies on tree structures where in-order reading is required for range queries.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3"/>
          <p:cNvSpPr/>
          <p:nvPr/>
        </p:nvSpPr>
        <p:spPr>
          <a:xfrm>
            <a:off x="0" y="0"/>
            <a:ext cx="9748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  <a:ea typeface="Calibri"/>
              </a:rPr>
              <a:t>Summary &amp; 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177840" y="613440"/>
            <a:ext cx="11696040" cy="24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Calibri"/>
                <a:ea typeface="Calibri"/>
              </a:rPr>
              <a:t>What We Learned from Inoder Traversing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3200" spc="-1" strike="noStrike">
                <a:solidFill>
                  <a:schemeClr val="dk1"/>
                </a:solidFill>
                <a:latin typeface="Calibri"/>
                <a:ea typeface="Calibri"/>
              </a:rPr>
              <a:t>Recap: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GB" sz="2800" spc="-1" strike="noStrike">
                <a:solidFill>
                  <a:srgbClr val="ff0000"/>
                </a:solidFill>
                <a:latin typeface="Calibri"/>
                <a:ea typeface="Calibri"/>
              </a:rPr>
              <a:t>✔ </a:t>
            </a:r>
            <a:r>
              <a:rPr b="0" lang="en-GB" sz="2800" spc="-1" strike="noStrike">
                <a:solidFill>
                  <a:srgbClr val="ff0000"/>
                </a:solidFill>
                <a:latin typeface="Calibri"/>
                <a:ea typeface="Calibri"/>
              </a:rPr>
              <a:t>Follows Left → Root → Right.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GB" sz="2800" spc="-1" strike="noStrike">
                <a:solidFill>
                  <a:srgbClr val="00b050"/>
                </a:solidFill>
                <a:latin typeface="Calibri"/>
                <a:ea typeface="Calibri"/>
              </a:rPr>
              <a:t>✔ </a:t>
            </a:r>
            <a:r>
              <a:rPr b="0" lang="en-GB" sz="2800" spc="-1" strike="noStrike">
                <a:solidFill>
                  <a:srgbClr val="00b050"/>
                </a:solidFill>
                <a:latin typeface="Calibri"/>
                <a:ea typeface="Calibri"/>
              </a:rPr>
              <a:t>The best way to retrieve sorted data from a BST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GB" sz="2800" spc="-1" strike="noStrike">
                <a:solidFill>
                  <a:srgbClr val="ffff00"/>
                </a:solidFill>
                <a:latin typeface="Calibri"/>
                <a:ea typeface="Calibri"/>
              </a:rPr>
              <a:t>✔ </a:t>
            </a:r>
            <a:r>
              <a:rPr b="0" lang="en-GB" sz="2800" spc="-1" strike="noStrike">
                <a:solidFill>
                  <a:srgbClr val="ffff00"/>
                </a:solidFill>
                <a:latin typeface="Calibri"/>
                <a:ea typeface="Calibri"/>
              </a:rPr>
              <a:t>Efficient O(n) time complexity.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111240" y="3546360"/>
            <a:ext cx="9748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  <a:ea typeface="Calibri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614880" y="4368240"/>
            <a:ext cx="11696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defTabSz="914400">
              <a:lnSpc>
                <a:spcPct val="100000"/>
              </a:lnSpc>
              <a:buClr>
                <a:srgbClr val="ffff00"/>
              </a:buClr>
              <a:buFont typeface="OpenSymbol"/>
              <a:buAutoNum type="arabicPeriod"/>
            </a:pPr>
            <a:r>
              <a:rPr b="0" lang="en-GB" sz="3200" spc="-1" strike="noStrike">
                <a:solidFill>
                  <a:srgbClr val="ffff00"/>
                </a:solidFill>
                <a:latin typeface="Calibri"/>
                <a:ea typeface="Calibri"/>
              </a:rPr>
              <a:t>Cormen et al. (CLRS) – Introduction to Algorithms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70c0"/>
              </a:buClr>
              <a:buFont typeface="OpenSymbol"/>
              <a:buAutoNum type="arabicPeriod"/>
            </a:pPr>
            <a:r>
              <a:rPr b="0" lang="en-GB" sz="3200" spc="-1" strike="noStrike">
                <a:solidFill>
                  <a:srgbClr val="0070c0"/>
                </a:solidFill>
                <a:latin typeface="Calibri"/>
                <a:ea typeface="Calibri"/>
              </a:rPr>
              <a:t>GeeksforGeeks / LeetCode – BFS Practice Problems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r>
              <a:rPr b="0" lang="en-GB" sz="3200" spc="-1" strike="noStrike">
                <a:solidFill>
                  <a:srgbClr val="ff0000"/>
                </a:solidFill>
                <a:latin typeface="Calibri"/>
                <a:ea typeface="Calibri"/>
              </a:rPr>
              <a:t>VisualAlgo.net – Interactive Tree Animations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500" fill="hold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10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0" dur="1000" fill="hold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1000" fill="hold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4" dur="5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" dur="5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6" dur="500" fill="hold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5"/>
          <p:cNvSpPr/>
          <p:nvPr/>
        </p:nvSpPr>
        <p:spPr>
          <a:xfrm>
            <a:off x="1221840" y="2473200"/>
            <a:ext cx="9748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8000" spc="-1" strike="noStrike">
                <a:solidFill>
                  <a:schemeClr val="dk1"/>
                </a:solidFill>
                <a:latin typeface="Calibri"/>
                <a:ea typeface="Calibri"/>
              </a:rPr>
              <a:t>Thank You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 spd="med">
    <p:pull dir="r"/>
  </p:transition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456</TotalTime>
  <Application>LibreOffice/24.2.7.2$Linux_X86_64 LibreOffice_project/420$Build-2</Application>
  <AppVersion>15.0000</AppVersion>
  <Words>485</Words>
  <Paragraphs>146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2025-11-21T06:33:18Z</dcterms:created>
  <dc:creator>HP</dc:creator>
  <dc:description/>
  <dc:language>en-US</dc:language>
  <cp:lastModifiedBy/>
  <dcterms:modified xsi:type="dcterms:W3CDTF">2025-11-25T17:50:13Z</dcterms:modified>
  <cp:revision>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